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6"/>
  </p:notesMasterIdLst>
  <p:sldIdLst>
    <p:sldId id="256" r:id="rId3"/>
    <p:sldId id="257" r:id="rId4"/>
    <p:sldId id="258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E2EBD8-0AEC-4CD7-8024-5AE09F77D51F}">
  <a:tblStyle styleId="{8CE2EBD8-0AEC-4CD7-8024-5AE09F77D5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79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d4ba858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c7d4ba8589_0_6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AI는 자료와 정보를 빠르게 준비해 준다. 지식과 지혜가 필요한 판단일수록 사람의 개입이 필요해진다.</a:t>
            </a:r>
            <a:br>
              <a:rPr lang="ko"/>
            </a:br>
            <a:r>
              <a:rPr lang="ko"/>
              <a:t>Data: 객관적, 단순 사실이나 수치 – 특정 플랫폼의 구매 횟수, 장바구니 수, 회원 정보 등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Info: 데이터 구조에 따라 연관관계와 의미 도출 – 장바구니에 담겨있는 물품이 많을수록 구매 횟수가 높았고, 30대 여성이 구매수가 가장 높았다.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Knowledge: 명시적으로 보이지 않았던 암묵적 정보를 토대로 얻는 새로운 학습 정보 구조화, 일반화 – 해당 플랫폼은 30대 여성이 가장 필요로하고, 장바구니가 많을수록 구매를 더 많이 한다.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Wisdom: 지식을 바탕으로 얻은 인사이트를 통해 문제에 대한 해결방안 도출 및 결정 – 전체 타겟에 영향을 주지 않는 선에서 30대 여성에게 매력적인 광고모델을 채택하고, 장바구니 CTA를 강화한다.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해결해야 할 문제에 따라, 어느 부분을 AI가 잘 해결하고</a:t>
            </a:r>
            <a:endParaRPr sz="1100"/>
          </a:p>
          <a:p>
            <a:pPr marL="45720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어떤 지점에서 사람이 개입해야 하는지,</a:t>
            </a:r>
            <a:endParaRPr/>
          </a:p>
          <a:p>
            <a:pPr marL="45720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최종 의사 결정은 어떤 정책을 통해 결정 되는지 등</a:t>
            </a:r>
            <a:endParaRPr sz="1100"/>
          </a:p>
          <a:p>
            <a:pPr marL="45720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다양한 상황 조건을 고려하여 AI를 활용 한다면</a:t>
            </a:r>
            <a:endParaRPr sz="1100"/>
          </a:p>
          <a:p>
            <a:pPr marL="45720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효율과 효과를 동시에 챙기는 PM으로 활약할 수 있을 것이다.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g3c7d4ba8589_0_6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78db385b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c78db385b3_0_5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Data: 객관적, 단순 사실이나 수치 – 특정 플랫폼의 구매 횟수, 장바구니 수, 회원 정보 등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Info: 데이터 구조에 따라 연관관계와 의미 도출 – 장바구니에 담겨있는 물품이 많을수록 구매 횟수가 높았고, 30대 여성이 구매수가 가장 높았다.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Knowledge: 명시적으로 보이지 않았던 암묵적 정보를 토대로 얻는 새로운 학습 정보 구조화, 일반화 – 해당 플랫폼은 30대 여성이 가장 필요로하고, 장바구니가 많을수록 구매를 더 많이 한다.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Wisdom: 지식을 바탕으로 얻은 인사이트를 통해 문제에 대한 해결방안 도출 및 결정 – 전체 타겟에 영향을 주지 않는 선에서 30대 여성에게 매력적인 광고모델을 채택하고, 장바구니 CTA를 강화한다.</a:t>
            </a:r>
            <a:endParaRPr/>
          </a:p>
        </p:txBody>
      </p:sp>
      <p:sp>
        <p:nvSpPr>
          <p:cNvPr id="123" name="Google Shape;123;g3c78db385b3_0_5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DIKW 피라미드</a:t>
            </a:r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AI와 PM 역할 생각해보며 작성하기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6"/>
          <p:cNvSpPr/>
          <p:nvPr/>
        </p:nvSpPr>
        <p:spPr>
          <a:xfrm>
            <a:off x="228600" y="256000"/>
            <a:ext cx="448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lang="ko" sz="96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lang="ko" sz="21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DIKW 피라미드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" sz="1800" b="1" i="0" u="none" strike="noStrike" cap="non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DIKW에서 AI와 사람의 역할을 나눠서 생각해보기</a:t>
            </a:r>
            <a:endParaRPr sz="1800" b="1" i="0" u="none" strike="noStrike" cap="none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6" descr="텍스트, 삼각형, 폰트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342605"/>
            <a:ext cx="3511384" cy="322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26"/>
          <p:cNvCxnSpPr/>
          <p:nvPr/>
        </p:nvCxnSpPr>
        <p:spPr>
          <a:xfrm>
            <a:off x="1724891" y="2147455"/>
            <a:ext cx="1191600" cy="231360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" name="Google Shape;110;p26"/>
          <p:cNvCxnSpPr/>
          <p:nvPr/>
        </p:nvCxnSpPr>
        <p:spPr>
          <a:xfrm rot="10800000">
            <a:off x="3739984" y="1967291"/>
            <a:ext cx="0" cy="824400"/>
          </a:xfrm>
          <a:prstGeom prst="straightConnector1">
            <a:avLst/>
          </a:prstGeom>
          <a:noFill/>
          <a:ln w="38100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26"/>
          <p:cNvCxnSpPr/>
          <p:nvPr/>
        </p:nvCxnSpPr>
        <p:spPr>
          <a:xfrm>
            <a:off x="3739984" y="3065447"/>
            <a:ext cx="0" cy="959400"/>
          </a:xfrm>
          <a:prstGeom prst="straightConnector1">
            <a:avLst/>
          </a:prstGeom>
          <a:noFill/>
          <a:ln w="38100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2" name="Google Shape;112;p26"/>
          <p:cNvSpPr txBox="1"/>
          <p:nvPr/>
        </p:nvSpPr>
        <p:spPr>
          <a:xfrm>
            <a:off x="3532235" y="1663094"/>
            <a:ext cx="4155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책임</a:t>
            </a:r>
            <a:endParaRPr/>
          </a:p>
        </p:txBody>
      </p:sp>
      <p:sp>
        <p:nvSpPr>
          <p:cNvPr id="113" name="Google Shape;113;p26"/>
          <p:cNvSpPr txBox="1"/>
          <p:nvPr/>
        </p:nvSpPr>
        <p:spPr>
          <a:xfrm>
            <a:off x="3474527" y="4080786"/>
            <a:ext cx="531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작업량</a:t>
            </a:r>
            <a:endParaRPr/>
          </a:p>
        </p:txBody>
      </p:sp>
      <p:cxnSp>
        <p:nvCxnSpPr>
          <p:cNvPr id="114" name="Google Shape;114;p26"/>
          <p:cNvCxnSpPr/>
          <p:nvPr/>
        </p:nvCxnSpPr>
        <p:spPr>
          <a:xfrm rot="10800000">
            <a:off x="595875" y="4711168"/>
            <a:ext cx="2202000" cy="0"/>
          </a:xfrm>
          <a:prstGeom prst="straightConnector1">
            <a:avLst/>
          </a:prstGeom>
          <a:noFill/>
          <a:ln w="38100" cap="flat" cmpd="sng">
            <a:solidFill>
              <a:srgbClr val="91A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26"/>
          <p:cNvCxnSpPr/>
          <p:nvPr/>
        </p:nvCxnSpPr>
        <p:spPr>
          <a:xfrm>
            <a:off x="3088820" y="4711168"/>
            <a:ext cx="575700" cy="0"/>
          </a:xfrm>
          <a:prstGeom prst="straightConnector1">
            <a:avLst/>
          </a:prstGeom>
          <a:noFill/>
          <a:ln w="38100" cap="flat" cmpd="sng">
            <a:solidFill>
              <a:srgbClr val="EF86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6" name="Google Shape;116;p26"/>
          <p:cNvSpPr txBox="1"/>
          <p:nvPr/>
        </p:nvSpPr>
        <p:spPr>
          <a:xfrm>
            <a:off x="2112887" y="4785691"/>
            <a:ext cx="293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3168924" y="4785691"/>
            <a:ext cx="4155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사람</a:t>
            </a:r>
            <a:endParaRPr/>
          </a:p>
        </p:txBody>
      </p:sp>
      <p:graphicFrame>
        <p:nvGraphicFramePr>
          <p:cNvPr id="118" name="Google Shape;118;p26"/>
          <p:cNvGraphicFramePr/>
          <p:nvPr/>
        </p:nvGraphicFramePr>
        <p:xfrm>
          <a:off x="4157333" y="1303688"/>
          <a:ext cx="4477425" cy="3135938"/>
        </p:xfrm>
        <a:graphic>
          <a:graphicData uri="http://schemas.openxmlformats.org/drawingml/2006/table">
            <a:tbl>
              <a:tblPr firstRow="1" bandRow="1">
                <a:noFill/>
                <a:tableStyleId>{8CE2EBD8-0AEC-4CD7-8024-5AE09F77D51F}</a:tableStyleId>
              </a:tblPr>
              <a:tblGrid>
                <a:gridCol w="447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 dirty="0"/>
                        <a:t>Wisdom(지혜)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/>
                        <a:t>•    지식을 바탕으로 얻은 인사이트를 통한 의사결정 및 전략 수립</a:t>
                      </a:r>
                      <a:endParaRPr sz="900" u="none" strike="noStrike" cap="none"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/>
                        <a:t>      e.g.) 전체 타겟에 중 30대 여성을 핵심 타겟으로 설정</a:t>
                      </a:r>
                      <a:endParaRPr sz="900" u="none" strike="noStrike" cap="none"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/>
                        <a:t>               해당 타겟에 맞춘 광고 모델과 CTA 구조 설계</a:t>
                      </a:r>
                      <a:endParaRPr sz="9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E9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/>
                        <a:t>Knowledge(지식)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/>
                        <a:t>•    정보 관계를 통해 얻어낸 학습 정보를 일반화</a:t>
                      </a:r>
                      <a:endParaRPr sz="900" u="none" strike="noStrike" cap="none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/>
                        <a:t>      e.g.) 장바구니가 많을수록 구매 가능성도 높아진다.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/>
                        <a:t>               30대 여성은 특정 상품군에서 반복 구매 성향이 있다.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BB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/>
                        <a:t>Info(정보)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/>
                        <a:t>•     데이터를 기반으로 연관관계와 패턴 정리</a:t>
                      </a:r>
                      <a:endParaRPr sz="900" u="none" strike="noStrike" cap="none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/>
                        <a:t>      e.g.) 장바구니가 많을수록 구매 횟수도 많다, 30대 여성 구매 비중이 가장 높다.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D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 dirty="0"/>
                        <a:t>Data(자료)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/>
                        <a:t>•    객관적, 단순 사실이나 수치</a:t>
                      </a:r>
                      <a:endParaRPr sz="900" u="none" strike="noStrike" cap="none"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 u="none" strike="noStrike" cap="none" dirty="0"/>
                        <a:t>      e.g.) 구매 횟수, 장바구니 수, 회원 정보, 클릭 로그 등</a:t>
                      </a:r>
                      <a:endParaRPr sz="9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9" name="Google Shape;119;p26"/>
          <p:cNvSpPr txBox="1"/>
          <p:nvPr/>
        </p:nvSpPr>
        <p:spPr>
          <a:xfrm>
            <a:off x="4506304" y="4413429"/>
            <a:ext cx="377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0" u="none" strike="noStrike" cap="none" dirty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AI는 자료와 정보를 빠르게 준비해 준다.</a:t>
            </a:r>
            <a:endParaRPr sz="1400" b="1" i="0" u="none" strike="noStrike" cap="none" dirty="0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/>
          <p:nvPr/>
        </p:nvSpPr>
        <p:spPr>
          <a:xfrm>
            <a:off x="0" y="0"/>
            <a:ext cx="9144000" cy="55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228600" y="256000"/>
            <a:ext cx="4485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Arial"/>
              <a:buNone/>
            </a:pPr>
            <a:r>
              <a:rPr lang="ko" sz="96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720525" y="109600"/>
            <a:ext cx="8187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Arial"/>
              <a:buNone/>
            </a:pPr>
            <a:r>
              <a:rPr lang="ko" sz="216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DIKW 피라미드 _ (</a:t>
            </a:r>
            <a:r>
              <a:rPr lang="ko-KR" altLang="en-US" sz="2160" b="1">
                <a:solidFill>
                  <a:srgbClr val="FFFFFF"/>
                </a:solidFill>
              </a:rPr>
              <a:t>이희용</a:t>
            </a:r>
            <a:r>
              <a:rPr lang="ko" sz="2160" b="1">
                <a:solidFill>
                  <a:srgbClr val="FFFFFF"/>
                </a:solidFill>
              </a:rPr>
              <a:t>)</a:t>
            </a:r>
            <a:endParaRPr sz="216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228600" y="631575"/>
            <a:ext cx="854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i="0" u="none" strike="noStrike" cap="non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DIKW에서 AI와 사람의 역할을 나눠서 생각해보기</a:t>
            </a:r>
            <a:endParaRPr/>
          </a:p>
        </p:txBody>
      </p:sp>
      <p:pic>
        <p:nvPicPr>
          <p:cNvPr id="129" name="Google Shape;129;p27" descr="텍스트, 삼각형, 폰트, 디자인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342605"/>
            <a:ext cx="3511384" cy="32240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27"/>
          <p:cNvGraphicFramePr/>
          <p:nvPr>
            <p:extLst>
              <p:ext uri="{D42A27DB-BD31-4B8C-83A1-F6EECF244321}">
                <p14:modId xmlns:p14="http://schemas.microsoft.com/office/powerpoint/2010/main" val="1861633536"/>
              </p:ext>
            </p:extLst>
          </p:nvPr>
        </p:nvGraphicFramePr>
        <p:xfrm>
          <a:off x="4157333" y="1303688"/>
          <a:ext cx="4477425" cy="3077650"/>
        </p:xfrm>
        <a:graphic>
          <a:graphicData uri="http://schemas.openxmlformats.org/drawingml/2006/table">
            <a:tbl>
              <a:tblPr firstRow="1" bandRow="1">
                <a:noFill/>
                <a:tableStyleId>{8CE2EBD8-0AEC-4CD7-8024-5AE09F77D51F}</a:tableStyleId>
              </a:tblPr>
              <a:tblGrid>
                <a:gridCol w="447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 dirty="0"/>
                        <a:t>Wisdom(지혜)</a:t>
                      </a:r>
                      <a:endParaRPr lang="en-US" altLang="ko" sz="1200" b="1" u="none" strike="noStrike" cap="none"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u="none" strike="noStrike" cap="none" dirty="0"/>
                        <a:t>현장에서 배운 내용 활용</a:t>
                      </a:r>
                      <a:endParaRPr b="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E9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 dirty="0"/>
                        <a:t>Knowledge(지식)</a:t>
                      </a:r>
                      <a:endParaRPr lang="en-US" altLang="ko" sz="1200" b="1" u="none" strike="noStrike" cap="none"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u="none" strike="noStrike" cap="none" dirty="0"/>
                        <a:t>작성된 간의 자료로 강의</a:t>
                      </a:r>
                      <a:endParaRPr b="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BB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 dirty="0"/>
                        <a:t>Info(정보)</a:t>
                      </a:r>
                      <a:endParaRPr lang="en-US" altLang="ko" sz="1200" b="1" u="none" strike="noStrike" cap="none"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수집된 자료로 강의 자료 작성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D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 u="none" strike="noStrike" cap="none" dirty="0"/>
                        <a:t>Data(자료)</a:t>
                      </a:r>
                      <a:endParaRPr lang="en-US" altLang="ko" sz="1200" b="1" u="none" strike="noStrike" cap="none" dirty="0"/>
                    </a:p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u="none" strike="noStrike" cap="none" dirty="0"/>
                        <a:t>강의 자료 수집</a:t>
                      </a:r>
                      <a:endParaRPr b="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E8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" name="Google Shape;109;p26">
            <a:extLst>
              <a:ext uri="{FF2B5EF4-FFF2-40B4-BE49-F238E27FC236}">
                <a16:creationId xmlns:a16="http://schemas.microsoft.com/office/drawing/2014/main" id="{BA9B8E8E-4399-785A-8251-6D7BF42B6A6D}"/>
              </a:ext>
            </a:extLst>
          </p:cNvPr>
          <p:cNvCxnSpPr/>
          <p:nvPr/>
        </p:nvCxnSpPr>
        <p:spPr>
          <a:xfrm>
            <a:off x="1724891" y="2147455"/>
            <a:ext cx="1191600" cy="231360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14;p26">
            <a:extLst>
              <a:ext uri="{FF2B5EF4-FFF2-40B4-BE49-F238E27FC236}">
                <a16:creationId xmlns:a16="http://schemas.microsoft.com/office/drawing/2014/main" id="{2C264801-1FE0-30CD-CC56-0DEBCAA1FDFE}"/>
              </a:ext>
            </a:extLst>
          </p:cNvPr>
          <p:cNvCxnSpPr/>
          <p:nvPr/>
        </p:nvCxnSpPr>
        <p:spPr>
          <a:xfrm rot="10800000">
            <a:off x="595875" y="4711168"/>
            <a:ext cx="2202000" cy="0"/>
          </a:xfrm>
          <a:prstGeom prst="straightConnector1">
            <a:avLst/>
          </a:prstGeom>
          <a:noFill/>
          <a:ln w="38100" cap="flat" cmpd="sng">
            <a:solidFill>
              <a:srgbClr val="91A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" name="Google Shape;115;p26">
            <a:extLst>
              <a:ext uri="{FF2B5EF4-FFF2-40B4-BE49-F238E27FC236}">
                <a16:creationId xmlns:a16="http://schemas.microsoft.com/office/drawing/2014/main" id="{B273D2A7-3D7A-446B-6BA8-AAA66BD4F999}"/>
              </a:ext>
            </a:extLst>
          </p:cNvPr>
          <p:cNvCxnSpPr/>
          <p:nvPr/>
        </p:nvCxnSpPr>
        <p:spPr>
          <a:xfrm>
            <a:off x="3088820" y="4711168"/>
            <a:ext cx="575700" cy="0"/>
          </a:xfrm>
          <a:prstGeom prst="straightConnector1">
            <a:avLst/>
          </a:prstGeom>
          <a:noFill/>
          <a:ln w="38100" cap="flat" cmpd="sng">
            <a:solidFill>
              <a:srgbClr val="EF86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Google Shape;116;p26">
            <a:extLst>
              <a:ext uri="{FF2B5EF4-FFF2-40B4-BE49-F238E27FC236}">
                <a16:creationId xmlns:a16="http://schemas.microsoft.com/office/drawing/2014/main" id="{4804F797-FFF6-A89F-F8A5-490468E5364B}"/>
              </a:ext>
            </a:extLst>
          </p:cNvPr>
          <p:cNvSpPr txBox="1"/>
          <p:nvPr/>
        </p:nvSpPr>
        <p:spPr>
          <a:xfrm>
            <a:off x="2112887" y="4785691"/>
            <a:ext cx="293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17;p26">
            <a:extLst>
              <a:ext uri="{FF2B5EF4-FFF2-40B4-BE49-F238E27FC236}">
                <a16:creationId xmlns:a16="http://schemas.microsoft.com/office/drawing/2014/main" id="{CEEA5C76-FF4B-2AB3-14DC-E7E002AE8AC3}"/>
              </a:ext>
            </a:extLst>
          </p:cNvPr>
          <p:cNvSpPr txBox="1"/>
          <p:nvPr/>
        </p:nvSpPr>
        <p:spPr>
          <a:xfrm>
            <a:off x="3168924" y="4785691"/>
            <a:ext cx="4155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사람</a:t>
            </a:r>
            <a:endParaRPr/>
          </a:p>
        </p:txBody>
      </p:sp>
      <p:cxnSp>
        <p:nvCxnSpPr>
          <p:cNvPr id="7" name="Google Shape;110;p26">
            <a:extLst>
              <a:ext uri="{FF2B5EF4-FFF2-40B4-BE49-F238E27FC236}">
                <a16:creationId xmlns:a16="http://schemas.microsoft.com/office/drawing/2014/main" id="{41F7B019-9DFD-E403-3C2C-12801BEF4A1C}"/>
              </a:ext>
            </a:extLst>
          </p:cNvPr>
          <p:cNvCxnSpPr/>
          <p:nvPr/>
        </p:nvCxnSpPr>
        <p:spPr>
          <a:xfrm rot="10800000">
            <a:off x="3739984" y="1967291"/>
            <a:ext cx="0" cy="824400"/>
          </a:xfrm>
          <a:prstGeom prst="straightConnector1">
            <a:avLst/>
          </a:prstGeom>
          <a:noFill/>
          <a:ln w="38100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111;p26">
            <a:extLst>
              <a:ext uri="{FF2B5EF4-FFF2-40B4-BE49-F238E27FC236}">
                <a16:creationId xmlns:a16="http://schemas.microsoft.com/office/drawing/2014/main" id="{45382906-1797-00E8-41AB-072C8E831727}"/>
              </a:ext>
            </a:extLst>
          </p:cNvPr>
          <p:cNvCxnSpPr/>
          <p:nvPr/>
        </p:nvCxnSpPr>
        <p:spPr>
          <a:xfrm>
            <a:off x="3739984" y="3065447"/>
            <a:ext cx="0" cy="959400"/>
          </a:xfrm>
          <a:prstGeom prst="straightConnector1">
            <a:avLst/>
          </a:prstGeom>
          <a:noFill/>
          <a:ln w="38100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113;p26">
            <a:extLst>
              <a:ext uri="{FF2B5EF4-FFF2-40B4-BE49-F238E27FC236}">
                <a16:creationId xmlns:a16="http://schemas.microsoft.com/office/drawing/2014/main" id="{79347C34-2708-ADE1-6D30-2AA31F176057}"/>
              </a:ext>
            </a:extLst>
          </p:cNvPr>
          <p:cNvSpPr txBox="1"/>
          <p:nvPr/>
        </p:nvSpPr>
        <p:spPr>
          <a:xfrm>
            <a:off x="3474527" y="4080786"/>
            <a:ext cx="531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작업량</a:t>
            </a:r>
            <a:endParaRPr/>
          </a:p>
        </p:txBody>
      </p:sp>
      <p:sp>
        <p:nvSpPr>
          <p:cNvPr id="10" name="Google Shape;119;p26">
            <a:extLst>
              <a:ext uri="{FF2B5EF4-FFF2-40B4-BE49-F238E27FC236}">
                <a16:creationId xmlns:a16="http://schemas.microsoft.com/office/drawing/2014/main" id="{51790860-9F45-75BB-D4E1-B8EC2C42A63F}"/>
              </a:ext>
            </a:extLst>
          </p:cNvPr>
          <p:cNvSpPr txBox="1"/>
          <p:nvPr/>
        </p:nvSpPr>
        <p:spPr>
          <a:xfrm>
            <a:off x="4506304" y="4413429"/>
            <a:ext cx="377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0" u="none" strike="noStrike" cap="none" dirty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AI는 자료와 정보를 빠르게 준비해 준다.</a:t>
            </a:r>
            <a:endParaRPr sz="1400" b="1" i="0" u="none" strike="noStrike" cap="none" dirty="0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화면 슬라이드 쇼(16:9)</PresentationFormat>
  <Paragraphs>55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Simple Light</vt:lpstr>
      <vt:lpstr>Simple Light</vt:lpstr>
      <vt:lpstr>DIKW 피라미드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산 하늘</cp:lastModifiedBy>
  <cp:revision>1</cp:revision>
  <dcterms:modified xsi:type="dcterms:W3CDTF">2026-02-13T04:29:47Z</dcterms:modified>
</cp:coreProperties>
</file>